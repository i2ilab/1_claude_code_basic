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143000"/>
            <a:ext cx="82387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1_claude_code_basic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57400"/>
            <a:ext cx="8238744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亲手复现 mini Claude Code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3400" y="2647950"/>
            <a:ext cx="8238744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c0 → c5 · 你每天在用的工具,亲手造出雏形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3400" y="323850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TOOLBOX · PLAN · SUBAGENT · COMPACT · GUARD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《AI智能体在心理与教育的应用》· 北京师范大学心理学部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· FROM TOY TO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的五根支柱,就是真 Claude Code 的骨架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起点 · s3:能跑的玩具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23900" y="2190750"/>
            <a:ext cx="35052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行:双层循环 + 文本协议 + os.popen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会说也会做——但一碰真实项目就露怯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协议太脆、工具太少、没计划没安全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8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终点 · c5:工业品雏形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876800" y="2190750"/>
            <a:ext cx="3505200" cy="10209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每步只加一个想法:协议→工具箱→计划→子 agent→压缩→权限门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~35 行,五根支柱齐备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每一步都对得上真 CC 的一个功能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3400" y="40767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上个模块你造出了「行为」;这个模块,把它长成一套框架——五步,从玩具到工业品。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出发点 · WHY UPGRADE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命令里一出现引号,s3 的协议就切崩了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BECEA"/>
          </a:solidFill>
          <a:ln w="9525">
            <a:solidFill>
              <a:srgbClr val="B03A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B0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引号灾难现场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2B2B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你:写一个 hello.py,内容是 print("你好, world")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343150"/>
            <a:ext cx="460514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reply.split("命令:")[1]   # 引号/冒号/换行混进来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590800"/>
            <a:ext cx="460514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B03A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IndexError,程序当场死掉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42950" y="2933700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靠切字符串猜意图,AI 一不守格式就崩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内容和指令搅在一起,没法区分「做什么」和「写什么」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600700" y="1695450"/>
            <a:ext cx="3009900" cy="220980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72150" y="1866900"/>
            <a:ext cx="272034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的两个软肋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72150" y="2133600"/>
            <a:ext cx="272034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协议太脆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772150" y="2362200"/>
            <a:ext cx="27203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split("命令:") 切字符串,一不守格式就 IndexError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72150" y="2857500"/>
            <a:ext cx="272034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工具太少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5772150" y="3086100"/>
            <a:ext cx="27203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只有一个 os.popen:没有分工、没有计划、没有安全约束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3400" y="41148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 Claude Code 强在哪?就强在把这两点做扎实了——协议健壮性是第一课。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C0 · JSON 协议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让机器听得懂机器:从「切字符串」到「读字段」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 回复: {"tool":"bash","args":{"cmd":"ls"}}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action = json.loads(reply)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49555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cmd = action["args"]["cmd"]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42950" y="2809875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「做什么」和「内容」用 {} 分得清清楚楚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再也不用数「命令:」在第几个字符;双层循环一字没变,变的只有协议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对照真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tool_use 结构化工具调用——模型直接返回结构化调用,我们手写的 JSON 就是它的极简版。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BF1EC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🔥 痛点场景(demo_project)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写一个带引号、冒号、换行的 hello.py——s3 切歪,c0 稳稳落地。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思考题:为什么结构化 JSON 能避免 s3 的切割歧义?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C1 · 工具箱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不止一把锤子:专用工具更可控、可审计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 = {"read_file": read_file,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"write_file": write_file, "bash": bash}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49555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result = TOOLS[name](**args)   # 按名字派发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42950" y="2809875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说用哪个工具,代码就调哪个——dispatch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parse() 剥掉 ```json 包裹;坏格式 try/except 请模型重发,不再崩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对照真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 / Write / Bash 专用工具:限制路径、记录每次读写、避开 shell 转义地狱。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BF1EC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🔥 痛点场景(demo_project)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 TODO.md 的一行:sed 要跟转义搏斗;read → 想清楚 → write,干净可控。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思考题:改用 bash 的 sed 改一行,遇到特殊符号会出什么岔子?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C2 · 计划是工具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TodoWrite:把「思考过程」变得可见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todo_write(items):   # 也只是一个普通工具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...打印 ☐ / ☑ 清单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49555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系统提示:接到多步任务,先列计划、边做边勾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42950" y="2809875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todo_write 不执行命令,只更新并打印一张清单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计划可见,人就能盯着它别跑偏——这也是「人在环」的一部分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对照真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TodoWrite——你见过的那张待办清单:让模型把计划写进一个能反复更新的工具。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BF1EC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🔥 痛点场景(demo_project)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 notes_app 加 export 命令:读 cli.py、改代码、再测试——没计划就容易漏掉「测试」。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思考题:不让它先列计划,你猜它最容易漏掉哪一步?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C3 · 子智能体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把脏活外包出去,只拿回结论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subagent(task):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msgs = [...]   # 全新的一份 messages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49555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...跑自己的循环,最后只 return 一句结论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42950" y="2809875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长任务最大的敌人是「上下文越来越脏」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像让室友去查 100 篇论文,他只把结论发你,不把论文全塞你脑子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对照真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 子 agent——「探索这个代码库」时派出去翻文件,主对话不被文件内容淹没。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BF1EC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🔥 痛点场景(demo_project)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读懂整个 demo_project 架构:几十屏代码塞爆主对话 vs 一段总结带回来。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思考题:子 agent 返回全部文件内容还是一段总结?为什么后者对长任务这么关键?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C4 · 上下文压缩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记不下,就做笔记:历史折叠成一条摘要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len(messages) &gt; LIMIT: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messages = compact(messages)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49555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模型给自己写摘要,[系统提示+摘要] 当新起点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42950" y="2809875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旧的一大堆细节被折叠掉,关键进展留下来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 CC 按 token 数触发,我们简化成消息条数——原理一样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对照真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/compact 与自动压缩——长会话把历史折叠成摘要重开窗口,context rot 的解药。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BF1EC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🔥 痛点场景(demo_project)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排查 stats 的 bug 来回二十轮:不压缩,迟早撑爆窗口、越来越慢越来越贵。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思考题:压缩后它还记得任务目标吗?如果摘要漏了个关键细节会怎样?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C5 · 权限门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危险动作,先问人:Human-in-the-loop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47850"/>
            <a:ext cx="45662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关键代码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09550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DANGER = ["rm ", "sudo", "mv ", ...]  # 黑名单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742950" y="2295525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any(d in cmd for d in DANGER):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742950" y="2495550"/>
            <a:ext cx="4605147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1A365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input("允许吗?(y/n) ")   # 人说 n 就不执行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42950" y="2809875"/>
            <a:ext cx="4457700" cy="48756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命中危险词 → 停下来征求人的同意</a:t>
            </a:r>
            <a:endParaRPr lang="en-US" sz="1013" dirty="0"/>
          </a:p>
          <a:p>
            <a:pPr algn="l" marL="85725" indent="-85725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拒绝后把「用户拒绝了」告诉 AI——它得学会接受 no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600700" y="1695450"/>
            <a:ext cx="3009900" cy="10477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53100" y="182880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对照真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53100" y="205740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危险操作确认弹窗——rm、改关键文件、跑未知脚本前,先问你要不要允许。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5600700" y="2857500"/>
            <a:ext cx="3009900" cy="1047750"/>
          </a:xfrm>
          <a:prstGeom prst="rect">
            <a:avLst/>
          </a:prstGeom>
          <a:solidFill>
            <a:srgbClr val="FBF1EC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53100" y="2990850"/>
            <a:ext cx="2778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🔥 痛点场景(demo_project)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53100" y="3219450"/>
            <a:ext cx="277863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「清理临时文件」听着无害,agent 却可能生成 rm——没有门,它手一滑就删了。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533400" y="41148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思考题:黑名单靠关键词匹配,rm 能不能被写成绕过检查的样子?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合影 · FIVE PILLARS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~35 行,五根支柱齐了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287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7750" y="1333500"/>
            <a:ext cx="330327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 mini CC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10125" y="1333500"/>
            <a:ext cx="387648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 Claude Code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1581150"/>
            <a:ext cx="8077200" cy="419100"/>
          </a:xfrm>
          <a:prstGeom prst="rect">
            <a:avLst/>
          </a:prstGeom>
          <a:solidFill>
            <a:srgbClr val="F6F4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8650" y="1685925"/>
            <a:ext cx="3886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c0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047750" y="1704975"/>
            <a:ext cx="357530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JSON 协议:json.loads 读字段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109085" y="1685925"/>
            <a:ext cx="58293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←→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10125" y="1704975"/>
            <a:ext cx="387648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tool_use 结构化工具调用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28650" y="2105025"/>
            <a:ext cx="3886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c1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047750" y="2124075"/>
            <a:ext cx="357530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TOOLS 字典按名派发 + 坏格式重发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109085" y="2105025"/>
            <a:ext cx="58293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←→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0125" y="2124075"/>
            <a:ext cx="387648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 / Write / Bash 专用工具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33400" y="2419350"/>
            <a:ext cx="8077200" cy="419100"/>
          </a:xfrm>
          <a:prstGeom prst="rect">
            <a:avLst/>
          </a:prstGeom>
          <a:solidFill>
            <a:srgbClr val="F6F4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650" y="2524125"/>
            <a:ext cx="3886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c2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47750" y="2543175"/>
            <a:ext cx="357530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todo_write 打印 ☐☑ 清单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109085" y="2524125"/>
            <a:ext cx="58293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←→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10125" y="2543175"/>
            <a:ext cx="387648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TodoWrite:计划可见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28650" y="2943225"/>
            <a:ext cx="3886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047750" y="2962275"/>
            <a:ext cx="357530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subagent() 全新 messages,只回结论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109085" y="2943225"/>
            <a:ext cx="58293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←→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10125" y="2962275"/>
            <a:ext cx="387648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 子 agent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33400" y="3257550"/>
            <a:ext cx="8077200" cy="419100"/>
          </a:xfrm>
          <a:prstGeom prst="rect">
            <a:avLst/>
          </a:prstGeom>
          <a:solidFill>
            <a:srgbClr val="F6F4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8650" y="3362325"/>
            <a:ext cx="3886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c4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47750" y="3381375"/>
            <a:ext cx="357530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compact() 把历史折叠成摘要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109085" y="3362325"/>
            <a:ext cx="58293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←→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10125" y="3381375"/>
            <a:ext cx="387648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/compact · 自动压缩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28650" y="3781425"/>
            <a:ext cx="3886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c5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047750" y="3800475"/>
            <a:ext cx="357530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DANGER 黑名单 + input() 问 y/n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4109085" y="3781425"/>
            <a:ext cx="58293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←→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10125" y="3800475"/>
            <a:ext cx="387648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权限确认弹窗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533400" y="42481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差别只有一个:真 CC 用模型原生 tool_use(更稳),我们手写 JSON(看得见每一个字节)。机制完全一样。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练习靶子 · DEMO_PROJECT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一个麻雀虽小的真项目,和一个等你来修的 bug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NOTES_APP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玩具笔记 CLI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多文件互相调用 + README + TODO——像一个真实的小项目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866900"/>
          </a:xfrm>
          <a:prstGeom prst="rect">
            <a:avLst/>
          </a:prstGeom>
          <a:solidFill>
            <a:srgbClr val="B0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预埋 BUG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stats 一跑就崩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空标签触发 IndexError——故意藏好的,等你带着 agent 来修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同一个靶子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人人一致、可复现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c0–c5 的复杂例子和全部作业,都在它上面跑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4810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工具箱/计划/子 agent/压缩/权限——简单任务用不上,一到真实项目就离不开。这就是给你一个「假项目」的原因。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CAPSTONE · 端到端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用你自己的 mini CC,真的修好那个 bug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47850"/>
            <a:ext cx="17196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复现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6750" y="2152650"/>
            <a:ext cx="1647825" cy="9525"/>
          </a:xfrm>
          <a:prstGeom prst="rect">
            <a:avLst/>
          </a:prstGeom>
          <a:solidFill>
            <a:srgbClr val="E3E1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6750" y="2286000"/>
            <a:ext cx="171964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让它跑一次 stats,亲眼看到报错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2428875" y="2305050"/>
            <a:ext cx="15544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81275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14625" y="1847850"/>
            <a:ext cx="17196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定位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4625" y="2152650"/>
            <a:ext cx="1647825" cy="9525"/>
          </a:xfrm>
          <a:prstGeom prst="rect">
            <a:avLst/>
          </a:prstGeom>
          <a:solidFill>
            <a:srgbClr val="E3E1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14625" y="2286000"/>
            <a:ext cx="171964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让它读 analyze.py,找到出事的那行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4476750" y="2305050"/>
            <a:ext cx="15544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29150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0" y="1847850"/>
            <a:ext cx="17196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修复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500" y="2152650"/>
            <a:ext cx="1647825" cy="9525"/>
          </a:xfrm>
          <a:prstGeom prst="rect">
            <a:avLst/>
          </a:prstGeom>
          <a:solidFill>
            <a:srgbClr val="E3E1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2500" y="2286000"/>
            <a:ext cx="171964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让它说出「为什么会崩」,再动手改</a:t>
            </a:r>
            <a:endParaRPr lang="en-US" sz="938" dirty="0"/>
          </a:p>
        </p:txBody>
      </p:sp>
      <p:sp>
        <p:nvSpPr>
          <p:cNvPr id="19" name="Text 17"/>
          <p:cNvSpPr/>
          <p:nvPr/>
        </p:nvSpPr>
        <p:spPr>
          <a:xfrm>
            <a:off x="6524625" y="2305050"/>
            <a:ext cx="15544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77025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10375" y="1847850"/>
            <a:ext cx="17196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验证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0375" y="2152650"/>
            <a:ext cx="1647825" cy="9525"/>
          </a:xfrm>
          <a:prstGeom prst="rect">
            <a:avLst/>
          </a:prstGeom>
          <a:solidFill>
            <a:srgbClr val="E3E1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10375" y="2286000"/>
            <a:ext cx="171964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再跑 stats,确认通过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533400" y="33909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「指挥 agent 调试,而不是自己调试」——全程你只把关、不代劳。这正是你以后用真 Claude Code 修 bug 的姿势。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33400" y="36576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做了选项 B 的审查员?先让审查员子 agent 定位,再让主 agent 修——这就是多 agent 协作。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作业 2 · HOMEWORK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三选一:给你的 mini CC 加一块骨头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9050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· 改 C1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加一件「搜索」工具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真实开发最高频的动作:按关键词在项目里搜文件——加进 TOOLS,教 AI 什么时候用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9050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· 改 C3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审查员子代理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给子 agent 装「代码审查员」人设——真 CC 的 code-review 子 agent 就是这么来的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9050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· 防崩加固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堵住 c1 还没堵的洞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坏 JSON、越界路径、死循环……让它在恶意输入下也不崩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862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c1 / c3 / c5 为基础改,每个改动都要能单独跑通;capstone 修 bug 是加分挑战。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教练 · COACH SKILLS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三个教练带着走:陪跑,不代写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8097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/HARNESS-TUTOR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概念陪跑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c0–c5 一个阶段一个阶段问你「讲给我听」——讲不出=没真懂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8097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/HARNESS-HW2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作业陪跑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三级提示一层层翻,只指路;答案代码一行都不给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8097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/HARNESS-DEBUG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调试陪跑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陪你修 capstone 的 bug——绝不剧透 bug 位置,只教你怎么找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7909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三条路径可混用:网页版 web/index.html 可视化 · 教程 + 逐个跑 c0–c5(先 diff 再跑)· 让教练带着走。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 · I2I ACADEMY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浏览器里零安装,c0 → c5 可跑可判题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181100"/>
            <a:ext cx="8238744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课程原版 .py 逐字节不改,在浏览器 Pyodide 里直接跑——本地环境没配好,也不耽误造你的 mini CC。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1866900"/>
            <a:ext cx="25717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866900"/>
            <a:ext cx="38100" cy="17716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20383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零安装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85800" y="22288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编辑器 + 终端直跑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9555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input()、同步 chat.send()、停止按钮原样工作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276600" y="1866900"/>
            <a:ext cx="25717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76600" y="1866900"/>
            <a:ext cx="38100" cy="17716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9000" y="20383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判题门禁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429000" y="22288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自动判题,过关解锁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49555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mock 模式按脚本回复,零 token 判题;real 连真模型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019800" y="1866900"/>
            <a:ext cx="25717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19800" y="1866900"/>
            <a:ext cx="38100" cy="17716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72200" y="20383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C5 实测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172200" y="22288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权限门真的弹 y/n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49555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浏览器里输入 n,命令就是不执行——亲手感受人在环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38100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平台内容直读课程仓库构建(hash 锁),与你手里的代码永不漂移。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课后深入 · MIND THE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五根支柱齐了,但真 CC 还有这些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188595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9812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167106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压缩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1671066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级触发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1671066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 CC 按 token 精确计量并保留关键上下文;我们只数消息条数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2590800" y="1695450"/>
            <a:ext cx="188595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90800" y="1695450"/>
            <a:ext cx="38100" cy="19812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43200" y="1866900"/>
            <a:ext cx="167106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743200" y="2057400"/>
            <a:ext cx="1671066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细粒度规则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324100"/>
            <a:ext cx="167106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allowlist / 分级确认 / 会话记忆,远不止一个黑名单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4648200" y="1695450"/>
            <a:ext cx="188595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48200" y="1695450"/>
            <a:ext cx="38100" cy="19812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00600" y="1866900"/>
            <a:ext cx="167106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00600" y="2057400"/>
            <a:ext cx="1671066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外部工具生态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324100"/>
            <a:ext cx="1671066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用协议接数据库、浏览器、第三方服务——工具箱可无限扩展</a:t>
            </a:r>
            <a:endParaRPr lang="en-US" sz="938" dirty="0"/>
          </a:p>
        </p:txBody>
      </p:sp>
      <p:sp>
        <p:nvSpPr>
          <p:cNvPr id="20" name="Text 18"/>
          <p:cNvSpPr/>
          <p:nvPr/>
        </p:nvSpPr>
        <p:spPr>
          <a:xfrm>
            <a:off x="6705600" y="1695450"/>
            <a:ext cx="188595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05600" y="1695450"/>
            <a:ext cx="38100" cy="19812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58000" y="1866900"/>
            <a:ext cx="1671066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HOOKS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858000" y="2057400"/>
            <a:ext cx="1671066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关键节点挂自动化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324100"/>
            <a:ext cx="167106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工具调用前后自动跑检查/格式化——框架长出「反射」</a:t>
            </a:r>
            <a:endParaRPr lang="en-US" sz="938" dirty="0"/>
          </a:p>
        </p:txBody>
      </p:sp>
      <p:sp>
        <p:nvSpPr>
          <p:cNvPr id="25" name="Text 23"/>
          <p:cNvSpPr/>
          <p:nvPr/>
        </p:nvSpPr>
        <p:spPr>
          <a:xfrm>
            <a:off x="533400" y="39624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想读工业级实现:learn-claude-code(s01–s12)——我们的 c0–c5 正是它的「最小可理解版」。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模块地图 · WHERE NEXT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这套 harness,是 Build &amp; Ship 后端的地基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28800"/>
            <a:ext cx="171964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6750" y="2190750"/>
            <a:ext cx="17196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造行为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66750" y="2438400"/>
            <a:ext cx="1700213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0_agent_basic:s0–s7,亲手造出会干活的 agent</a:t>
            </a:r>
            <a:endParaRPr lang="en-US" sz="863" dirty="0"/>
          </a:p>
        </p:txBody>
      </p:sp>
      <p:sp>
        <p:nvSpPr>
          <p:cNvPr id="9" name="Text 7"/>
          <p:cNvSpPr/>
          <p:nvPr/>
        </p:nvSpPr>
        <p:spPr>
          <a:xfrm>
            <a:off x="2419350" y="2247900"/>
            <a:ext cx="174879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81275" y="1695450"/>
            <a:ext cx="1914525" cy="1428750"/>
          </a:xfrm>
          <a:prstGeom prst="rect">
            <a:avLst/>
          </a:prstGeom>
          <a:solidFill>
            <a:srgbClr val="FBF1EC"/>
          </a:solidFill>
          <a:ln w="19050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14625" y="1828800"/>
            <a:ext cx="171964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714625" y="2190750"/>
            <a:ext cx="17196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造框架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2714625" y="2438400"/>
            <a:ext cx="1700213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1_claude_code_basic:c0–c5,复现 mini Claude Code</a:t>
            </a:r>
            <a:endParaRPr lang="en-US" sz="863" dirty="0"/>
          </a:p>
        </p:txBody>
      </p:sp>
      <p:sp>
        <p:nvSpPr>
          <p:cNvPr id="14" name="Text 12"/>
          <p:cNvSpPr/>
          <p:nvPr/>
        </p:nvSpPr>
        <p:spPr>
          <a:xfrm>
            <a:off x="4467225" y="2247900"/>
            <a:ext cx="174879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29150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0" y="1828800"/>
            <a:ext cx="171964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762500" y="2190750"/>
            <a:ext cx="17196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定义与评估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4762500" y="2438400"/>
            <a:ext cx="1700213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DEFINE 双支柱:想清楚造什么、凭什么说它行</a:t>
            </a:r>
            <a:endParaRPr lang="en-US" sz="863" dirty="0"/>
          </a:p>
        </p:txBody>
      </p:sp>
      <p:sp>
        <p:nvSpPr>
          <p:cNvPr id="19" name="Text 17"/>
          <p:cNvSpPr/>
          <p:nvPr/>
        </p:nvSpPr>
        <p:spPr>
          <a:xfrm>
            <a:off x="6515100" y="2247900"/>
            <a:ext cx="174879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77025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10375" y="1828800"/>
            <a:ext cx="171964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810375" y="2190750"/>
            <a:ext cx="17196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810375" y="2438400"/>
            <a:ext cx="1700213" cy="317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 &amp; Ship:你的 agent 包成后端 API,部署上公网</a:t>
            </a:r>
            <a:endParaRPr lang="en-US" sz="863" dirty="0"/>
          </a:p>
        </p:txBody>
      </p:sp>
      <p:sp>
        <p:nvSpPr>
          <p:cNvPr id="24" name="Text 22"/>
          <p:cNvSpPr/>
          <p:nvPr/>
        </p:nvSpPr>
        <p:spPr>
          <a:xfrm>
            <a:off x="533400" y="33909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上线那天,你的后端跑的就是今天这套 harness;c3 的子 agent,会变成上线后的安全复核层。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1_claude_code_basic · 亲手复现 mini Claude Code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238250"/>
            <a:ext cx="8238744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C5 的哲学 · HUMAN-IN-THE-LOOP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3400" y="16764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981200"/>
            <a:ext cx="785012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自主性越强,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3400" y="2533650"/>
            <a:ext cx="785012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越需要人握着最后的开关。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3400" y="3352800"/>
            <a:ext cx="765581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6D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可以自己规划、自己派子 agent、自己压缩记忆——但 rm 之前,要先问你一声。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在心理与教育场景,这不是技术选择,是伦理责任。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2382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带走一句话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33400" y="158115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866900"/>
            <a:ext cx="7850124" cy="437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42"/>
              </a:lnSpc>
              <a:buNone/>
            </a:pPr>
            <a:r>
              <a:rPr lang="en-US" sz="25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「你每天在用的 Claude Code,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3400" y="2400300"/>
            <a:ext cx="7850124" cy="437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42"/>
              </a:lnSpc>
              <a:buNone/>
            </a:pPr>
            <a:r>
              <a:rPr lang="en-US" sz="25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你已经知道它为什么这样设计。」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533400" y="3143250"/>
            <a:ext cx="785012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工具箱 · 计划 · 子 agent · 压缩 · 权限——五根支柱,~35 行,你全亲手写过。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533400" y="3733800"/>
            <a:ext cx="82387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下一站:用 DEFINE 想清楚造什么,再让这套 harness 载着你的 agent 上线。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郑先隽 · 北京师范大学心理学部 · 人本 AI 设计与创新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2026-07-21T00:13:48Z</dcterms:created>
  <dcterms:modified xsi:type="dcterms:W3CDTF">2026-07-21T00:13:48Z</dcterms:modified>
</cp:coreProperties>
</file>